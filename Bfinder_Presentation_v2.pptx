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86" y="10886"/>
            <a:ext cx="12188952" cy="6858000"/>
          </a:xfrm>
          <a:prstGeom prst="rect">
            <a:avLst/>
          </a:prstGeom>
          <a:gradFill>
            <a:gsLst>
              <a:gs pos="0">
                <a:srgbClr val="080B16"/>
              </a:gs>
              <a:gs pos="100000">
                <a:srgbClr val="0C1020"/>
              </a:gs>
            </a:gsLst>
            <a:lin ang="90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gradFill>
            <a:gsLst>
              <a:gs pos="0">
                <a:srgbClr val="0A0E1E"/>
              </a:gs>
              <a:gs pos="100000">
                <a:srgbClr val="080B1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1417320"/>
            <a:ext cx="9966960" cy="4023360"/>
          </a:xfrm>
          <a:prstGeom prst="rect">
            <a:avLst/>
          </a:prstGeom>
          <a:gradFill>
            <a:gsLst>
              <a:gs pos="0">
                <a:srgbClr val="121A34"/>
              </a:gs>
              <a:gs pos="100000">
                <a:srgbClr val="0A0F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1417320"/>
            <a:ext cx="9966960" cy="5029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" y="5394960"/>
            <a:ext cx="9966960" cy="5029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91640"/>
            <a:ext cx="1417320" cy="1417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74720" y="1600200"/>
            <a:ext cx="7498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0" b="1" i="0">
                <a:solidFill>
                  <a:srgbClr val="4A9EFF"/>
                </a:solidFill>
              </a:rPr>
              <a:t>BFINDER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97180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Web Security Vulnerability Scanner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3703320"/>
            <a:ext cx="7498079" cy="18288"/>
          </a:xfrm>
          <a:prstGeom prst="rect">
            <a:avLst/>
          </a:prstGeom>
          <a:solidFill>
            <a:srgbClr val="1E5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3822191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DD"/>
                </a:solidFill>
              </a:rPr>
              <a:t>Presenter: Jayden  ·  June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31596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9BB"/>
                </a:solidFill>
              </a:rPr>
              <a:t>Supervisor Presentation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2415" y="1362456"/>
            <a:ext cx="109728" cy="10972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09376" y="1362456"/>
            <a:ext cx="109728" cy="10972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5" y="5340096"/>
            <a:ext cx="109728" cy="10972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009376" y="5340096"/>
            <a:ext cx="109728" cy="10972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80B16"/>
              </a:gs>
              <a:gs pos="100000">
                <a:srgbClr val="0C1020"/>
              </a:gs>
            </a:gsLst>
            <a:lin ang="90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gradFill>
            <a:gsLst>
              <a:gs pos="0">
                <a:srgbClr val="0A0E1E"/>
              </a:gs>
              <a:gs pos="100000">
                <a:srgbClr val="080B1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716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0432" y="16459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896112"/>
            <a:ext cx="11494008" cy="274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950976"/>
            <a:ext cx="11494008" cy="13716"/>
          </a:xfrm>
          <a:prstGeom prst="rect">
            <a:avLst/>
          </a:prstGeom>
          <a:solidFill>
            <a:srgbClr val="1E5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097280"/>
            <a:ext cx="5486400" cy="1097280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C1228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1097280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" y="141731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38988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468880"/>
            <a:ext cx="5486400" cy="1097280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C1228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" y="2468880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" y="27889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76148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What is Bfinder?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3840480"/>
            <a:ext cx="5486400" cy="1097280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C1228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7472" y="3840480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064" y="41605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413308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5212080"/>
            <a:ext cx="5486400" cy="1097280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C1228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7472" y="5212080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" y="55321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550468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1072" y="1097280"/>
            <a:ext cx="5486400" cy="1097280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C1228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91072" y="1097280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55664" y="141731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FF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8312" y="138988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Live Demo Overview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91072" y="2468880"/>
            <a:ext cx="5486400" cy="1097280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C1228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91072" y="2468880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55664" y="27889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FF"/>
                </a:solidFill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8312" y="276148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Technical Stack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1072" y="3840480"/>
            <a:ext cx="5486400" cy="1097280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C1228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91072" y="3840480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55664" y="41605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FF"/>
                </a:solidFill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68312" y="413308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91072" y="5212080"/>
            <a:ext cx="5486400" cy="1097280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C1228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91072" y="5212080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55664" y="55321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FF"/>
                </a:solidFill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68312" y="550468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80B16"/>
              </a:gs>
              <a:gs pos="100000">
                <a:srgbClr val="0C1020"/>
              </a:gs>
            </a:gsLst>
            <a:lin ang="90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gradFill>
            <a:gsLst>
              <a:gs pos="0">
                <a:srgbClr val="0A0E1E"/>
              </a:gs>
              <a:gs pos="100000">
                <a:srgbClr val="080B1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716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0432" y="16459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896112"/>
            <a:ext cx="11494008" cy="274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950976"/>
            <a:ext cx="11494008" cy="13716"/>
          </a:xfrm>
          <a:prstGeom prst="rect">
            <a:avLst/>
          </a:prstGeom>
          <a:solidFill>
            <a:srgbClr val="1E5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115568"/>
            <a:ext cx="11494008" cy="1554480"/>
          </a:xfrm>
          <a:prstGeom prst="rect">
            <a:avLst/>
          </a:prstGeom>
          <a:gradFill>
            <a:gsLst>
              <a:gs pos="0">
                <a:srgbClr val="161E3A"/>
              </a:gs>
              <a:gs pos="100000">
                <a:srgbClr val="0C1124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1115568"/>
            <a:ext cx="50292" cy="15544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125272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Security vulnerabilities slip to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0136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Developers focus on features; security checks are often skipped or done too late.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898648"/>
            <a:ext cx="11494008" cy="1554480"/>
          </a:xfrm>
          <a:prstGeom prst="rect">
            <a:avLst/>
          </a:prstGeom>
          <a:gradFill>
            <a:gsLst>
              <a:gs pos="0">
                <a:srgbClr val="161E3A"/>
              </a:gs>
              <a:gs pos="100000">
                <a:srgbClr val="0C1124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" y="2898648"/>
            <a:ext cx="50292" cy="15544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303580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Manual code review is slow &amp; inconsistent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58444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Human reviewers miss subtle issues — XSS, SQL injection, and exposed secrets.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4681728"/>
            <a:ext cx="11494008" cy="1554480"/>
          </a:xfrm>
          <a:prstGeom prst="rect">
            <a:avLst/>
          </a:prstGeom>
          <a:gradFill>
            <a:gsLst>
              <a:gs pos="0">
                <a:srgbClr val="161E3A"/>
              </a:gs>
              <a:gs pos="100000">
                <a:srgbClr val="0C1124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7472" y="4681728"/>
            <a:ext cx="50292" cy="15544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481888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No lightweight desktop tool for offline scanning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36752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Existing tools are cloud-dependent, expensive, or require DevOps-level setup.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80B16"/>
              </a:gs>
              <a:gs pos="100000">
                <a:srgbClr val="0C1020"/>
              </a:gs>
            </a:gsLst>
            <a:lin ang="90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gradFill>
            <a:gsLst>
              <a:gs pos="0">
                <a:srgbClr val="0A0E1E"/>
              </a:gs>
              <a:gs pos="100000">
                <a:srgbClr val="080B1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716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0432" y="16459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is Bfinder?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896112"/>
            <a:ext cx="11494008" cy="274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950976"/>
            <a:ext cx="11494008" cy="13716"/>
          </a:xfrm>
          <a:prstGeom prst="rect">
            <a:avLst/>
          </a:prstGeom>
          <a:solidFill>
            <a:srgbClr val="1E5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097280"/>
            <a:ext cx="5486400" cy="5394960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A0F20"/>
              </a:gs>
            </a:gsLst>
            <a:lin ang="90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1097280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20700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AB8FF"/>
                </a:solidFill>
              </a:rPr>
              <a:t>About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64208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Bfinder is a desktop application that automatically scans web project directories for common security vulnerabilities — giving developers instant, actionable results before deployment.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83280"/>
            <a:ext cx="5120640" cy="18288"/>
          </a:xfrm>
          <a:prstGeom prst="rect">
            <a:avLst/>
          </a:prstGeom>
          <a:solidFill>
            <a:srgbClr val="1E5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AB8FF"/>
                </a:solidFill>
              </a:rPr>
              <a:t>Target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— Web Developers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26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— QA Engineers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120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— Security Auditors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15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— CS Students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097280"/>
            <a:ext cx="5440680" cy="5394960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A0F20"/>
              </a:gs>
            </a:gsLst>
            <a:lin ang="90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1097280"/>
            <a:ext cx="544068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12070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AB8FF"/>
                </a:solidFill>
              </a:rPr>
              <a:t>Goals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1737360"/>
            <a:ext cx="274320" cy="274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0" y="167335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Detect vulnerabilities early in development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0" y="2651760"/>
            <a:ext cx="274320" cy="274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258775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Work fully offline — no internet needed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3566160"/>
            <a:ext cx="274320" cy="274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350215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Simple UI any developer can use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4480560"/>
            <a:ext cx="274320" cy="274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0" y="441655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Generate printable encrypted PDF reports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5394960"/>
            <a:ext cx="274320" cy="274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80" y="533095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Track scan history across 50 scans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80B16"/>
              </a:gs>
              <a:gs pos="100000">
                <a:srgbClr val="0C1020"/>
              </a:gs>
            </a:gsLst>
            <a:lin ang="90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gradFill>
            <a:gsLst>
              <a:gs pos="0">
                <a:srgbClr val="0A0E1E"/>
              </a:gs>
              <a:gs pos="100000">
                <a:srgbClr val="080B1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716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0432" y="16459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896112"/>
            <a:ext cx="11494008" cy="274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950976"/>
            <a:ext cx="11494008" cy="13716"/>
          </a:xfrm>
          <a:prstGeom prst="rect">
            <a:avLst/>
          </a:prstGeom>
          <a:solidFill>
            <a:srgbClr val="1E5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078992"/>
            <a:ext cx="3566160" cy="2423160"/>
          </a:xfrm>
          <a:prstGeom prst="rect">
            <a:avLst/>
          </a:prstGeom>
          <a:gradFill>
            <a:gsLst>
              <a:gs pos="0">
                <a:srgbClr val="161E3A"/>
              </a:gs>
              <a:gs pos="100000">
                <a:srgbClr val="0C1226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1078992"/>
            <a:ext cx="356616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6187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</a:rPr>
              <a:t>Vulnerability Scanner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828800"/>
            <a:ext cx="3200400" cy="16459"/>
          </a:xfrm>
          <a:prstGeom prst="rect">
            <a:avLst/>
          </a:prstGeom>
          <a:solidFill>
            <a:srgbClr val="1E5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947672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Scans .html .js .ts .php .css .json .env .xml .sql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078992"/>
            <a:ext cx="3566160" cy="2423160"/>
          </a:xfrm>
          <a:prstGeom prst="rect">
            <a:avLst/>
          </a:prstGeom>
          <a:gradFill>
            <a:gsLst>
              <a:gs pos="0">
                <a:srgbClr val="161E3A"/>
              </a:gs>
              <a:gs pos="100000">
                <a:srgbClr val="0C1226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1078992"/>
            <a:ext cx="356616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126187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</a:rPr>
              <a:t>Login &amp; Auth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1828800"/>
            <a:ext cx="3200400" cy="16459"/>
          </a:xfrm>
          <a:prstGeom prst="rect">
            <a:avLst/>
          </a:prstGeom>
          <a:solidFill>
            <a:srgbClr val="1E5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1947672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Secure login with OS keyring password and logout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6448" y="1078992"/>
            <a:ext cx="3566160" cy="2423160"/>
          </a:xfrm>
          <a:prstGeom prst="rect">
            <a:avLst/>
          </a:prstGeom>
          <a:gradFill>
            <a:gsLst>
              <a:gs pos="0">
                <a:srgbClr val="161E3A"/>
              </a:gs>
              <a:gs pos="100000">
                <a:srgbClr val="0C1226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56448" y="1078992"/>
            <a:ext cx="356616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39327" y="126187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</a:rPr>
              <a:t>Bug Explanations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7" y="1828800"/>
            <a:ext cx="3200400" cy="16459"/>
          </a:xfrm>
          <a:prstGeom prst="rect">
            <a:avLst/>
          </a:prstGeom>
          <a:solidFill>
            <a:srgbClr val="1E5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9327" y="1947672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Every issue includes a description and fix suggestion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3703320"/>
            <a:ext cx="3566160" cy="2423160"/>
          </a:xfrm>
          <a:prstGeom prst="rect">
            <a:avLst/>
          </a:prstGeom>
          <a:gradFill>
            <a:gsLst>
              <a:gs pos="0">
                <a:srgbClr val="161E3A"/>
              </a:gs>
              <a:gs pos="100000">
                <a:srgbClr val="0C1226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7472" y="3703320"/>
            <a:ext cx="356616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3886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</a:rPr>
              <a:t>PDF Reports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4453128"/>
            <a:ext cx="3200400" cy="16459"/>
          </a:xfrm>
          <a:prstGeom prst="rect">
            <a:avLst/>
          </a:prstGeom>
          <a:solidFill>
            <a:srgbClr val="1E5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45720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Generates encrypted PDF reports of all findings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3703320"/>
            <a:ext cx="3566160" cy="2423160"/>
          </a:xfrm>
          <a:prstGeom prst="rect">
            <a:avLst/>
          </a:prstGeom>
          <a:gradFill>
            <a:gsLst>
              <a:gs pos="0">
                <a:srgbClr val="161E3A"/>
              </a:gs>
              <a:gs pos="100000">
                <a:srgbClr val="0C1226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51960" y="3703320"/>
            <a:ext cx="356616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34840" y="3886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</a:rPr>
              <a:t>Scan History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4453128"/>
            <a:ext cx="3200400" cy="16459"/>
          </a:xfrm>
          <a:prstGeom prst="rect">
            <a:avLst/>
          </a:prstGeom>
          <a:solidFill>
            <a:srgbClr val="1E5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34840" y="45720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Last 50 scans stored and viewable on the History page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56448" y="3703320"/>
            <a:ext cx="3566160" cy="2423160"/>
          </a:xfrm>
          <a:prstGeom prst="rect">
            <a:avLst/>
          </a:prstGeom>
          <a:gradFill>
            <a:gsLst>
              <a:gs pos="0">
                <a:srgbClr val="161E3A"/>
              </a:gs>
              <a:gs pos="100000">
                <a:srgbClr val="0C1226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56448" y="3703320"/>
            <a:ext cx="356616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39327" y="3886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</a:rPr>
              <a:t>Security Tips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39327" y="4453128"/>
            <a:ext cx="3200400" cy="16459"/>
          </a:xfrm>
          <a:prstGeom prst="rect">
            <a:avLst/>
          </a:prstGeom>
          <a:solidFill>
            <a:srgbClr val="1E5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39327" y="45720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Rotating security tips shown on the home page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80B16"/>
              </a:gs>
              <a:gs pos="100000">
                <a:srgbClr val="0C1020"/>
              </a:gs>
            </a:gsLst>
            <a:lin ang="90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gradFill>
            <a:gsLst>
              <a:gs pos="0">
                <a:srgbClr val="0A0E1E"/>
              </a:gs>
              <a:gs pos="100000">
                <a:srgbClr val="080B1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716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0432" y="16459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896112"/>
            <a:ext cx="11494008" cy="274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950976"/>
            <a:ext cx="11494008" cy="13716"/>
          </a:xfrm>
          <a:prstGeom prst="rect">
            <a:avLst/>
          </a:prstGeom>
          <a:solidFill>
            <a:srgbClr val="1E5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097280"/>
            <a:ext cx="11494008" cy="1170432"/>
          </a:xfrm>
          <a:prstGeom prst="rect">
            <a:avLst/>
          </a:prstGeom>
          <a:gradFill>
            <a:gsLst>
              <a:gs pos="0">
                <a:srgbClr val="121932"/>
              </a:gs>
              <a:gs pos="100000">
                <a:srgbClr val="0A0E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1097280"/>
            <a:ext cx="3017520" cy="1170432"/>
          </a:xfrm>
          <a:prstGeom prst="rect">
            <a:avLst/>
          </a:prstGeom>
          <a:gradFill>
            <a:gsLst>
              <a:gs pos="0">
                <a:srgbClr val="1A50CC"/>
              </a:gs>
              <a:gs pos="100000">
                <a:srgbClr val="4A9E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44475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UI Layer (PyQt5)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4447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LoginDialog  ·  BfinderWindow  ·  QStackedWidget Pages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468880"/>
            <a:ext cx="11494008" cy="1170432"/>
          </a:xfrm>
          <a:prstGeom prst="rect">
            <a:avLst/>
          </a:prstGeom>
          <a:gradFill>
            <a:gsLst>
              <a:gs pos="0">
                <a:srgbClr val="121932"/>
              </a:gs>
              <a:gs pos="100000">
                <a:srgbClr val="0A0E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" y="2468880"/>
            <a:ext cx="3017520" cy="1170432"/>
          </a:xfrm>
          <a:prstGeom prst="rect">
            <a:avLst/>
          </a:prstGeom>
          <a:gradFill>
            <a:gsLst>
              <a:gs pos="0">
                <a:srgbClr val="3060AA"/>
              </a:gs>
              <a:gs pos="100000">
                <a:srgbClr val="7AB8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281635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Logic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8163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bug_exp.py — scan engine  ·  sec_tip.py — security tips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3840480"/>
            <a:ext cx="11494008" cy="1170432"/>
          </a:xfrm>
          <a:prstGeom prst="rect">
            <a:avLst/>
          </a:prstGeom>
          <a:gradFill>
            <a:gsLst>
              <a:gs pos="0">
                <a:srgbClr val="121932"/>
              </a:gs>
              <a:gs pos="100000">
                <a:srgbClr val="0A0E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7472" y="3840480"/>
            <a:ext cx="3017520" cy="1170432"/>
          </a:xfrm>
          <a:prstGeom prst="rect">
            <a:avLst/>
          </a:prstGeom>
          <a:gradFill>
            <a:gsLst>
              <a:gs pos="0">
                <a:srgbClr val="183880"/>
              </a:gs>
              <a:gs pos="100000">
                <a:srgbClr val="50A8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418795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1879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scan_history.json  ·  contact_info.json  ·  PDF Reports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5212080"/>
            <a:ext cx="11494008" cy="1170432"/>
          </a:xfrm>
          <a:prstGeom prst="rect">
            <a:avLst/>
          </a:prstGeom>
          <a:gradFill>
            <a:gsLst>
              <a:gs pos="0">
                <a:srgbClr val="121932"/>
              </a:gs>
              <a:gs pos="100000">
                <a:srgbClr val="0A0E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7472" y="5212080"/>
            <a:ext cx="3017520" cy="1170432"/>
          </a:xfrm>
          <a:prstGeom prst="rect">
            <a:avLst/>
          </a:prstGeom>
          <a:gradFill>
            <a:gsLst>
              <a:gs pos="0">
                <a:srgbClr val="102866"/>
              </a:gs>
              <a:gs pos="100000">
                <a:srgbClr val="3080EE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555955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OS / Security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55595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keyring (password)  ·  xhtml2pdf + PyPDF2 (encryption)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80B16"/>
              </a:gs>
              <a:gs pos="100000">
                <a:srgbClr val="0C1020"/>
              </a:gs>
            </a:gsLst>
            <a:lin ang="90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gradFill>
            <a:gsLst>
              <a:gs pos="0">
                <a:srgbClr val="0A0E1E"/>
              </a:gs>
              <a:gs pos="100000">
                <a:srgbClr val="080B1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716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0432" y="16459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Supported File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896112"/>
            <a:ext cx="11494008" cy="274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950976"/>
            <a:ext cx="11494008" cy="13716"/>
          </a:xfrm>
          <a:prstGeom prst="rect">
            <a:avLst/>
          </a:prstGeom>
          <a:solidFill>
            <a:srgbClr val="1E5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078992"/>
            <a:ext cx="5486400" cy="1225296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A0F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1078992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16151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1234439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XSS, inline scripts, unsafe forms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514600"/>
            <a:ext cx="5486400" cy="1225296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A0F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" y="2514600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26517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.js / 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6272" y="267004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eval(), dangerous sinks, exposed keys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3950208"/>
            <a:ext cx="5486400" cy="1225296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A0F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7472" y="3950208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408736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.php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76272" y="4105656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SQL injection, exec(), file inclusion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5385816"/>
            <a:ext cx="5486400" cy="1225296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A0F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7472" y="5385816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552297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.env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5541264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Exposed secrets, API keys, passwords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1072" y="1078992"/>
            <a:ext cx="5486400" cy="1225296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A0F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91072" y="1078992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2" y="1216151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.sql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1" y="1234439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Unsafe queries, DROP/TRUNCATE risks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91072" y="2514600"/>
            <a:ext cx="5486400" cy="1225296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A0F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91072" y="2514600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26517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.json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871" y="267004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Hardcoded credentials, insecure configs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1072" y="3950208"/>
            <a:ext cx="5486400" cy="1225296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A0F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91072" y="3950208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3952" y="408736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.css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871" y="4105656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CSS injection, expression() exploits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91072" y="5385816"/>
            <a:ext cx="5486400" cy="1225296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A0F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91072" y="5385816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73952" y="552297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.xml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9871" y="5541264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XXE injection, external entity refs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80B16"/>
              </a:gs>
              <a:gs pos="100000">
                <a:srgbClr val="0C1020"/>
              </a:gs>
            </a:gsLst>
            <a:lin ang="90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gradFill>
            <a:gsLst>
              <a:gs pos="0">
                <a:srgbClr val="0A0E1E"/>
              </a:gs>
              <a:gs pos="100000">
                <a:srgbClr val="080B1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716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0432" y="16459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Technical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896112"/>
            <a:ext cx="11494008" cy="274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950976"/>
            <a:ext cx="11494008" cy="13716"/>
          </a:xfrm>
          <a:prstGeom prst="rect">
            <a:avLst/>
          </a:prstGeom>
          <a:solidFill>
            <a:srgbClr val="1E5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078992"/>
            <a:ext cx="11494008" cy="777240"/>
          </a:xfrm>
          <a:prstGeom prst="rect">
            <a:avLst/>
          </a:prstGeom>
          <a:gradFill>
            <a:gsLst>
              <a:gs pos="0">
                <a:srgbClr val="121932"/>
              </a:gs>
              <a:gs pos="100000">
                <a:srgbClr val="0A0E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1078992"/>
            <a:ext cx="2377440" cy="777240"/>
          </a:xfrm>
          <a:prstGeom prst="rect">
            <a:avLst/>
          </a:prstGeom>
          <a:gradFill>
            <a:gsLst>
              <a:gs pos="0">
                <a:srgbClr val="1E5CCC"/>
              </a:gs>
              <a:gs pos="100000">
                <a:srgbClr val="10308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Python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261872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Core language — cross-platform, rich ecosystem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020824"/>
            <a:ext cx="11494008" cy="777240"/>
          </a:xfrm>
          <a:prstGeom prst="rect">
            <a:avLst/>
          </a:prstGeom>
          <a:gradFill>
            <a:gsLst>
              <a:gs pos="0">
                <a:srgbClr val="121932"/>
              </a:gs>
              <a:gs pos="100000">
                <a:srgbClr val="0A0E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" y="2020824"/>
            <a:ext cx="2377440" cy="777240"/>
          </a:xfrm>
          <a:prstGeom prst="rect">
            <a:avLst/>
          </a:prstGeom>
          <a:gradFill>
            <a:gsLst>
              <a:gs pos="0">
                <a:srgbClr val="1E5CCC"/>
              </a:gs>
              <a:gs pos="100000">
                <a:srgbClr val="10308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20370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PyQt5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203704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Desktop UI framework — windows, widgets, event loop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2962656"/>
            <a:ext cx="11494008" cy="777240"/>
          </a:xfrm>
          <a:prstGeom prst="rect">
            <a:avLst/>
          </a:prstGeom>
          <a:gradFill>
            <a:gsLst>
              <a:gs pos="0">
                <a:srgbClr val="121932"/>
              </a:gs>
              <a:gs pos="100000">
                <a:srgbClr val="0A0E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7472" y="2962656"/>
            <a:ext cx="2377440" cy="777240"/>
          </a:xfrm>
          <a:prstGeom prst="rect">
            <a:avLst/>
          </a:prstGeom>
          <a:gradFill>
            <a:gsLst>
              <a:gs pos="0">
                <a:srgbClr val="1E5CCC"/>
              </a:gs>
              <a:gs pos="100000">
                <a:srgbClr val="10308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145536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145536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OS-native secure credential storage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3904487"/>
            <a:ext cx="11494008" cy="777240"/>
          </a:xfrm>
          <a:prstGeom prst="rect">
            <a:avLst/>
          </a:prstGeom>
          <a:gradFill>
            <a:gsLst>
              <a:gs pos="0">
                <a:srgbClr val="121932"/>
              </a:gs>
              <a:gs pos="100000">
                <a:srgbClr val="0A0E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7472" y="3904487"/>
            <a:ext cx="2377440" cy="777240"/>
          </a:xfrm>
          <a:prstGeom prst="rect">
            <a:avLst/>
          </a:prstGeom>
          <a:gradFill>
            <a:gsLst>
              <a:gs pos="0">
                <a:srgbClr val="1E5CCC"/>
              </a:gs>
              <a:gs pos="100000">
                <a:srgbClr val="10308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08736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xhtml2pdf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087368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HTML-to-PDF conversion for report generation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4846320"/>
            <a:ext cx="11494008" cy="777240"/>
          </a:xfrm>
          <a:prstGeom prst="rect">
            <a:avLst/>
          </a:prstGeom>
          <a:gradFill>
            <a:gsLst>
              <a:gs pos="0">
                <a:srgbClr val="121932"/>
              </a:gs>
              <a:gs pos="100000">
                <a:srgbClr val="0A0E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7472" y="4846320"/>
            <a:ext cx="2377440" cy="777240"/>
          </a:xfrm>
          <a:prstGeom prst="rect">
            <a:avLst/>
          </a:prstGeom>
          <a:gradFill>
            <a:gsLst>
              <a:gs pos="0">
                <a:srgbClr val="1E5CCC"/>
              </a:gs>
              <a:gs pos="100000">
                <a:srgbClr val="10308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50292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PyPDF2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029200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PDF encryption and manipulation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5788152"/>
            <a:ext cx="11494008" cy="777240"/>
          </a:xfrm>
          <a:prstGeom prst="rect">
            <a:avLst/>
          </a:prstGeom>
          <a:gradFill>
            <a:gsLst>
              <a:gs pos="0">
                <a:srgbClr val="121932"/>
              </a:gs>
              <a:gs pos="100000">
                <a:srgbClr val="0A0E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7472" y="5788152"/>
            <a:ext cx="2377440" cy="777240"/>
          </a:xfrm>
          <a:prstGeom prst="rect">
            <a:avLst/>
          </a:prstGeom>
          <a:gradFill>
            <a:gsLst>
              <a:gs pos="0">
                <a:srgbClr val="1E5CCC"/>
              </a:gs>
              <a:gs pos="100000">
                <a:srgbClr val="10308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597103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971032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Lightweight local storage for history and settings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80B16"/>
              </a:gs>
              <a:gs pos="100000">
                <a:srgbClr val="0C1020"/>
              </a:gs>
            </a:gsLst>
            <a:lin ang="90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gradFill>
            <a:gsLst>
              <a:gs pos="0">
                <a:srgbClr val="0A0E1E"/>
              </a:gs>
              <a:gs pos="100000">
                <a:srgbClr val="080B1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716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0432" y="16459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Demo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896112"/>
            <a:ext cx="11494008" cy="274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950976"/>
            <a:ext cx="11494008" cy="13716"/>
          </a:xfrm>
          <a:prstGeom prst="rect">
            <a:avLst/>
          </a:prstGeom>
          <a:solidFill>
            <a:srgbClr val="1E5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078992"/>
            <a:ext cx="5486400" cy="1691640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A0F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1078992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581912"/>
            <a:ext cx="566928" cy="566928"/>
          </a:xfrm>
          <a:prstGeom prst="rect">
            <a:avLst/>
          </a:prstGeom>
          <a:solidFill>
            <a:srgbClr val="1E5CCC"/>
          </a:solidFill>
          <a:ln w="9525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09343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1243584"/>
            <a:ext cx="4343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</a:rPr>
              <a:t>Launch Bfinder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828800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Enter password to unlock the application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2999232"/>
            <a:ext cx="5486400" cy="1691640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A0F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" y="2999232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502152"/>
            <a:ext cx="566928" cy="566928"/>
          </a:xfrm>
          <a:prstGeom prst="rect">
            <a:avLst/>
          </a:prstGeom>
          <a:solidFill>
            <a:srgbClr val="1E5CCC"/>
          </a:solidFill>
          <a:ln w="9525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529584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3163824"/>
            <a:ext cx="4343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</a:rPr>
              <a:t>Browse Project Folder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" y="3749040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Select a web project directory to scan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4919472"/>
            <a:ext cx="5486400" cy="1691640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A0F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7472" y="4919472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5422392"/>
            <a:ext cx="566928" cy="566928"/>
          </a:xfrm>
          <a:prstGeom prst="rect">
            <a:avLst/>
          </a:prstGeom>
          <a:solidFill>
            <a:srgbClr val="1E5CCC"/>
          </a:solidFill>
          <a:ln w="9525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5449824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5084064"/>
            <a:ext cx="4343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</a:rPr>
              <a:t>Run 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5669280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Click Scan — Bfinder analyses all supported files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1072" y="1078992"/>
            <a:ext cx="5486400" cy="1691640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A0F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91072" y="1078992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92240" y="1581912"/>
            <a:ext cx="566928" cy="566928"/>
          </a:xfrm>
          <a:prstGeom prst="rect">
            <a:avLst/>
          </a:prstGeom>
          <a:solidFill>
            <a:srgbClr val="1E5CCC"/>
          </a:solidFill>
          <a:ln w="9525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1609343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243584"/>
            <a:ext cx="4343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</a:rPr>
              <a:t>Review 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1192" y="1828800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View detected bugs with explanations on Home page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1072" y="2999232"/>
            <a:ext cx="5486400" cy="1691640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A0F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91072" y="2999232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92240" y="3502152"/>
            <a:ext cx="566928" cy="566928"/>
          </a:xfrm>
          <a:prstGeom prst="rect">
            <a:avLst/>
          </a:prstGeom>
          <a:solidFill>
            <a:srgbClr val="1E5CCC"/>
          </a:solidFill>
          <a:ln w="9525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3529584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51192" y="3163824"/>
            <a:ext cx="4343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</a:rPr>
              <a:t>Generate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51192" y="3749040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Click Print Report to produce an encrypted PDF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91072" y="4919472"/>
            <a:ext cx="5486400" cy="1691640"/>
          </a:xfrm>
          <a:prstGeom prst="rect">
            <a:avLst/>
          </a:prstGeom>
          <a:gradFill>
            <a:gsLst>
              <a:gs pos="0">
                <a:srgbClr val="141C36"/>
              </a:gs>
              <a:gs pos="100000">
                <a:srgbClr val="0A0F20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91072" y="4919472"/>
            <a:ext cx="54864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92240" y="5422392"/>
            <a:ext cx="566928" cy="566928"/>
          </a:xfrm>
          <a:prstGeom prst="rect">
            <a:avLst/>
          </a:prstGeom>
          <a:solidFill>
            <a:srgbClr val="1E5CCC"/>
          </a:solidFill>
          <a:ln w="9525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92240" y="5449824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51192" y="5084064"/>
            <a:ext cx="4343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B8FF"/>
                </a:solidFill>
              </a:rPr>
              <a:t>Check History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51192" y="5669280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Navigate to History to review previous scans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80B16"/>
              </a:gs>
              <a:gs pos="100000">
                <a:srgbClr val="0C1020"/>
              </a:gs>
            </a:gsLst>
            <a:lin ang="90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gradFill>
            <a:gsLst>
              <a:gs pos="0">
                <a:srgbClr val="0A0E1E"/>
              </a:gs>
              <a:gs pos="100000">
                <a:srgbClr val="080B1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716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0432" y="16459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896112"/>
            <a:ext cx="11494008" cy="274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950976"/>
            <a:ext cx="11494008" cy="13716"/>
          </a:xfrm>
          <a:prstGeom prst="rect">
            <a:avLst/>
          </a:prstGeom>
          <a:solidFill>
            <a:srgbClr val="1E5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078992"/>
            <a:ext cx="3566160" cy="5440680"/>
          </a:xfrm>
          <a:prstGeom prst="rect">
            <a:avLst/>
          </a:prstGeom>
          <a:gradFill>
            <a:gsLst>
              <a:gs pos="0">
                <a:srgbClr val="121932"/>
              </a:gs>
              <a:gs pos="100000">
                <a:srgbClr val="0A0E20"/>
              </a:gs>
            </a:gsLst>
            <a:lin ang="90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1078992"/>
            <a:ext cx="3566160" cy="1097280"/>
          </a:xfrm>
          <a:prstGeom prst="rect">
            <a:avLst/>
          </a:prstGeom>
          <a:gradFill>
            <a:gsLst>
              <a:gs pos="0">
                <a:srgbClr val="1E5CCC"/>
              </a:gs>
              <a:gs pos="100000">
                <a:srgbClr val="4A9E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113385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60934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Short Term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2377440"/>
            <a:ext cx="320040" cy="274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0704" y="23317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More scan rules &amp; patterns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3657600"/>
            <a:ext cx="320040" cy="274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0704" y="3611879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Support additional file types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4937760"/>
            <a:ext cx="320040" cy="274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0704" y="48920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Better bug explanation detail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1078992"/>
            <a:ext cx="3566160" cy="5440680"/>
          </a:xfrm>
          <a:prstGeom prst="rect">
            <a:avLst/>
          </a:prstGeom>
          <a:gradFill>
            <a:gsLst>
              <a:gs pos="0">
                <a:srgbClr val="121932"/>
              </a:gs>
              <a:gs pos="100000">
                <a:srgbClr val="0A0E20"/>
              </a:gs>
            </a:gsLst>
            <a:lin ang="90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79392" y="1078992"/>
            <a:ext cx="3566160" cy="1097280"/>
          </a:xfrm>
          <a:prstGeom prst="rect">
            <a:avLst/>
          </a:prstGeom>
          <a:gradFill>
            <a:gsLst>
              <a:gs pos="0">
                <a:srgbClr val="3060AA"/>
              </a:gs>
              <a:gs pos="100000">
                <a:srgbClr val="7AB8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16552" y="113385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160934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Mid Term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5424" y="2377440"/>
            <a:ext cx="320040" cy="27432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92624" y="23317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CI/CD pipeline integration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5424" y="3657600"/>
            <a:ext cx="320040" cy="27432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92624" y="3611879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Command-line interface (CLI)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35424" y="4937760"/>
            <a:ext cx="320040" cy="27432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92624" y="48920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Team-shared scan history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11312" y="1078992"/>
            <a:ext cx="3566160" cy="5440680"/>
          </a:xfrm>
          <a:prstGeom prst="rect">
            <a:avLst/>
          </a:prstGeom>
          <a:gradFill>
            <a:gsLst>
              <a:gs pos="0">
                <a:srgbClr val="121932"/>
              </a:gs>
              <a:gs pos="100000">
                <a:srgbClr val="0A0E20"/>
              </a:gs>
            </a:gsLst>
            <a:lin ang="90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11312" y="1078992"/>
            <a:ext cx="3566160" cy="1097280"/>
          </a:xfrm>
          <a:prstGeom prst="rect">
            <a:avLst/>
          </a:prstGeom>
          <a:gradFill>
            <a:gsLst>
              <a:gs pos="0">
                <a:srgbClr val="183880"/>
              </a:gs>
              <a:gs pos="100000">
                <a:srgbClr val="50A8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48472" y="113385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160934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Long Term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67344" y="2377440"/>
            <a:ext cx="320040" cy="27432"/>
          </a:xfrm>
          <a:prstGeom prst="rect">
            <a:avLst/>
          </a:prstGeom>
          <a:solidFill>
            <a:srgbClr val="5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24544" y="23317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Web / cloud-based version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67344" y="3657600"/>
            <a:ext cx="320040" cy="27432"/>
          </a:xfrm>
          <a:prstGeom prst="rect">
            <a:avLst/>
          </a:prstGeom>
          <a:solidFill>
            <a:srgbClr val="5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24544" y="3611879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AI-powered fix suggestions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67344" y="4937760"/>
            <a:ext cx="320040" cy="27432"/>
          </a:xfrm>
          <a:prstGeom prst="rect">
            <a:avLst/>
          </a:prstGeom>
          <a:solidFill>
            <a:srgbClr val="5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24544" y="48920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Real-time scan as-you-type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80B16"/>
              </a:gs>
              <a:gs pos="100000">
                <a:srgbClr val="0C1020"/>
              </a:gs>
            </a:gsLst>
            <a:lin ang="90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gradFill>
            <a:gsLst>
              <a:gs pos="0">
                <a:srgbClr val="0A0E1E"/>
              </a:gs>
              <a:gs pos="100000">
                <a:srgbClr val="080B1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508760"/>
            <a:ext cx="9445752" cy="3840480"/>
          </a:xfrm>
          <a:prstGeom prst="rect">
            <a:avLst/>
          </a:prstGeom>
          <a:gradFill>
            <a:gsLst>
              <a:gs pos="0">
                <a:srgbClr val="121A34"/>
              </a:gs>
              <a:gs pos="100000">
                <a:srgbClr val="080C1A"/>
              </a:gs>
            </a:gsLst>
            <a:lin ang="8100000" scaled="0"/>
          </a:gradFill>
          <a:ln w="6350">
            <a:solidFill>
              <a:srgbClr val="1E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1508760"/>
            <a:ext cx="9445752" cy="5029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5303520"/>
            <a:ext cx="9445752" cy="5029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828800"/>
            <a:ext cx="1417320" cy="1417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0" y="1691640"/>
            <a:ext cx="7040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4A9EFF"/>
                </a:solidFill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090672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822191"/>
            <a:ext cx="7040880" cy="18288"/>
          </a:xfrm>
          <a:prstGeom prst="rect">
            <a:avLst/>
          </a:prstGeom>
          <a:solidFill>
            <a:srgbClr val="1E5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3950208"/>
            <a:ext cx="7040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AB8FF"/>
                </a:solidFill>
              </a:rPr>
              <a:t>Jayden  ·  waltermkingilima96@gmail.com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521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99BB"/>
                </a:solidFill>
              </a:rPr>
              <a:t>Bfinder  ·  Web Security Scanner  ·  June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07592" y="1444751"/>
            <a:ext cx="128016" cy="12801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753344" y="1444751"/>
            <a:ext cx="128016" cy="12801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307592" y="5239512"/>
            <a:ext cx="128016" cy="12801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753344" y="5239512"/>
            <a:ext cx="128016" cy="12801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605</Words>
  <Application>Microsoft Office PowerPoint</Application>
  <PresentationFormat>Custom</PresentationFormat>
  <Paragraphs>144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Walter MKing</cp:lastModifiedBy>
  <cp:revision>2</cp:revision>
  <dcterms:created xsi:type="dcterms:W3CDTF">2013-01-27T09:14:16Z</dcterms:created>
  <dcterms:modified xsi:type="dcterms:W3CDTF">2026-06-17T08:41:56Z</dcterms:modified>
  <cp:category/>
</cp:coreProperties>
</file>